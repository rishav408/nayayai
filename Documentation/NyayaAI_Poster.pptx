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32918400" cy="21945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25" d="100"/>
          <a:sy n="25" d="100"/>
        </p:scale>
        <p:origin x="1234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3414"/>
            <a:ext cx="31089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E3A8A"/>
                </a:solidFill>
              </a:defRPr>
            </a:pPr>
            <a:r>
              <a:rPr sz="7200" dirty="0"/>
              <a:t>NyayaAI: AI-Powered Indian Legal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16432"/>
            <a:ext cx="31089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</a:defRPr>
            </a:pPr>
            <a:r>
              <a:rPr sz="4400" dirty="0"/>
              <a:t>Advanced Legal Research Platform with Intelligent Search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8A"/>
                </a:solidFill>
              </a:defRPr>
            </a:pPr>
            <a:r>
              <a:rPr sz="5000" dirty="0"/>
              <a:t>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23518"/>
            <a:ext cx="9738360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rPr sz="3600" dirty="0"/>
              <a:t>NyayaAI is an innovative AI-powered legal assistant designed specifically for the Indian legal system. The platform combines Google Gemini AI with intelligent web search capabilities to provide comprehensive legal research assistance. </a:t>
            </a:r>
            <a:endParaRPr lang="en-US" sz="3600" dirty="0"/>
          </a:p>
          <a:p>
            <a:pPr algn="l">
              <a:defRPr sz="1400" b="0">
                <a:solidFill>
                  <a:srgbClr val="333333"/>
                </a:solidFill>
              </a:defRPr>
            </a:pPr>
            <a:r>
              <a:rPr sz="3600" dirty="0"/>
              <a:t>Built on a modern Flask backend with responsive frontend, NyayaAI offers real-time legal information retrieval, document analysis, and contextual legal guidance. </a:t>
            </a:r>
            <a:endParaRPr lang="en-US" sz="3600" dirty="0"/>
          </a:p>
          <a:p>
            <a:pPr algn="l">
              <a:defRPr sz="1400" b="0">
                <a:solidFill>
                  <a:srgbClr val="333333"/>
                </a:solidFill>
              </a:defRPr>
            </a:pPr>
            <a:r>
              <a:rPr sz="3600" dirty="0"/>
              <a:t>The system democratizes access to legal information, making complex Indian legal knowledge accessible to law students, practicing lawyers, and the general public.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1208306"/>
            <a:ext cx="100584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8A"/>
                </a:solidFill>
              </a:defRPr>
            </a:pPr>
            <a:r>
              <a:rPr lang="en-IN" sz="5000" dirty="0"/>
              <a:t>OBJECTIVES</a:t>
            </a:r>
            <a:endParaRPr sz="5000" dirty="0"/>
          </a:p>
        </p:txBody>
      </p:sp>
      <p:sp>
        <p:nvSpPr>
          <p:cNvPr id="8" name="TextBox 7"/>
          <p:cNvSpPr txBox="1"/>
          <p:nvPr/>
        </p:nvSpPr>
        <p:spPr>
          <a:xfrm>
            <a:off x="960120" y="12040955"/>
            <a:ext cx="10058400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rPr sz="3300" dirty="0"/>
              <a:t>• Develop an AI-powered legal assistant for Indian law</a:t>
            </a:r>
            <a:br>
              <a:rPr sz="3300" dirty="0"/>
            </a:br>
            <a:r>
              <a:rPr sz="3300" dirty="0"/>
              <a:t>• Create intuitive interface for legal research and queries</a:t>
            </a:r>
            <a:br>
              <a:rPr sz="3300" dirty="0"/>
            </a:br>
            <a:r>
              <a:rPr sz="3300" dirty="0"/>
              <a:t>• Integrate real-time web search for current legal developments</a:t>
            </a:r>
            <a:br>
              <a:rPr sz="3300" dirty="0"/>
            </a:br>
            <a:r>
              <a:rPr sz="3300" dirty="0"/>
              <a:t>• Provide contextual legal guidance with proper citations</a:t>
            </a:r>
            <a:br>
              <a:rPr sz="3300" dirty="0"/>
            </a:br>
            <a:r>
              <a:rPr sz="3300" dirty="0"/>
              <a:t>• Support legal professionals, students, and general public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256913"/>
            <a:ext cx="100584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8A"/>
                </a:solidFill>
              </a:defRPr>
            </a:pPr>
            <a:r>
              <a:rPr sz="5000" dirty="0"/>
              <a:t>KEY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7179766"/>
            <a:ext cx="100584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rPr lang="en-IN" sz="3300" dirty="0"/>
              <a:t>✓ Intelligent Chat: Auto-decides when to search web</a:t>
            </a:r>
            <a:br>
              <a:rPr lang="en-IN" sz="3300" dirty="0"/>
            </a:br>
            <a:r>
              <a:rPr lang="en-IN" sz="3300" dirty="0"/>
              <a:t>✓ Force Search: Always augment with web sources</a:t>
            </a:r>
            <a:br>
              <a:rPr lang="en-IN" sz="3300" dirty="0"/>
            </a:br>
            <a:r>
              <a:rPr lang="en-IN" sz="3300" dirty="0"/>
              <a:t>✓ Document-Aware: PDF/DOCX/TXT processing</a:t>
            </a:r>
            <a:br>
              <a:rPr lang="en-IN" sz="3300" dirty="0"/>
            </a:br>
            <a:r>
              <a:rPr lang="en-IN" sz="3300" dirty="0"/>
              <a:t>✓ Conversation Memory: Per-session history</a:t>
            </a:r>
            <a:br>
              <a:rPr lang="en-IN" sz="3300" dirty="0"/>
            </a:br>
            <a:r>
              <a:rPr lang="en-IN" sz="3300" dirty="0"/>
              <a:t>✓ Robust Error Handling &amp; Logging</a:t>
            </a:r>
            <a:br>
              <a:rPr lang="en-IN" sz="3300" dirty="0"/>
            </a:br>
            <a:r>
              <a:rPr lang="en-IN" sz="3300" dirty="0"/>
              <a:t>✓ Responsive Web Interface</a:t>
            </a:r>
            <a:endParaRPr sz="3300" dirty="0"/>
          </a:p>
        </p:txBody>
      </p:sp>
      <p:sp>
        <p:nvSpPr>
          <p:cNvPr id="11" name="TextBox 10"/>
          <p:cNvSpPr txBox="1"/>
          <p:nvPr/>
        </p:nvSpPr>
        <p:spPr>
          <a:xfrm>
            <a:off x="11430000" y="2743200"/>
            <a:ext cx="100584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8A"/>
                </a:solidFill>
              </a:defRPr>
            </a:pPr>
            <a:r>
              <a:rPr lang="en-IN" sz="5000" dirty="0"/>
              <a:t>SYSTEM ARCHITECTURE</a:t>
            </a:r>
            <a:endParaRPr sz="5000" dirty="0"/>
          </a:p>
        </p:txBody>
      </p:sp>
      <p:pic>
        <p:nvPicPr>
          <p:cNvPr id="12" name="Picture 11" descr="Fi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3474720"/>
            <a:ext cx="10058400" cy="5486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30000" y="9235440"/>
            <a:ext cx="100584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8A"/>
                </a:solidFill>
              </a:defRPr>
            </a:pPr>
            <a:r>
              <a:rPr lang="en-IN" sz="5000" dirty="0"/>
              <a:t>METHODS &amp; TECHNOLOGIES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10047684"/>
            <a:ext cx="100584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rPr lang="en-IN" sz="3300" dirty="0"/>
              <a:t>Backend: Flask 3.0 with Blueprint architecture</a:t>
            </a:r>
            <a:br>
              <a:rPr lang="en-IN" sz="3300" dirty="0"/>
            </a:br>
            <a:r>
              <a:rPr lang="en-IN" sz="3300" dirty="0"/>
              <a:t>AI: LangChain + Google Gemini 1.5/2.5 Flash</a:t>
            </a:r>
            <a:br>
              <a:rPr lang="en-IN" sz="3300" dirty="0"/>
            </a:br>
            <a:r>
              <a:rPr lang="en-IN" sz="3300" dirty="0"/>
              <a:t>Search: DuckDuckGo with LLM synthesis</a:t>
            </a:r>
            <a:br>
              <a:rPr lang="en-IN" sz="3300" dirty="0"/>
            </a:br>
            <a:r>
              <a:rPr lang="en-IN" sz="3300" dirty="0"/>
              <a:t>Validation: </a:t>
            </a:r>
            <a:r>
              <a:rPr lang="en-IN" sz="3300" dirty="0" err="1"/>
              <a:t>Pydantic</a:t>
            </a:r>
            <a:r>
              <a:rPr lang="en-IN" sz="3300" dirty="0"/>
              <a:t> models, CORS security</a:t>
            </a:r>
            <a:br>
              <a:rPr lang="en-IN" sz="3300" dirty="0"/>
            </a:br>
            <a:r>
              <a:rPr lang="en-IN" sz="3300" dirty="0"/>
              <a:t>Frontend: HTML5, Tailwind CSS, Vanilla JavaScript</a:t>
            </a:r>
            <a:br>
              <a:rPr lang="en-IN" sz="3300" dirty="0"/>
            </a:br>
            <a:r>
              <a:rPr lang="en-IN" sz="3300" dirty="0"/>
              <a:t>Document Processing: PyPDF2, python-docx</a:t>
            </a:r>
            <a:endParaRPr sz="3300" dirty="0"/>
          </a:p>
        </p:txBody>
      </p:sp>
      <p:sp>
        <p:nvSpPr>
          <p:cNvPr id="15" name="TextBox 14"/>
          <p:cNvSpPr txBox="1"/>
          <p:nvPr/>
        </p:nvSpPr>
        <p:spPr>
          <a:xfrm>
            <a:off x="11430000" y="13474899"/>
            <a:ext cx="100584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8A"/>
                </a:solidFill>
              </a:defRPr>
            </a:pPr>
            <a:r>
              <a:rPr sz="5000" dirty="0"/>
              <a:t>DATA FLOW PIPELINE</a:t>
            </a:r>
          </a:p>
        </p:txBody>
      </p:sp>
      <p:pic>
        <p:nvPicPr>
          <p:cNvPr id="16" name="Picture 15" descr="Fig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14665166"/>
            <a:ext cx="10058400" cy="5029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1945600" y="2743200"/>
            <a:ext cx="100584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8A"/>
                </a:solidFill>
              </a:defRPr>
            </a:pPr>
            <a:r>
              <a:rPr sz="5000" dirty="0"/>
              <a:t>RESULTS &amp; 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60840" y="3382060"/>
            <a:ext cx="100584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rPr lang="en-US" sz="3300" dirty="0"/>
              <a:t>Response Time: 2.1s average</a:t>
            </a:r>
            <a:br>
              <a:rPr lang="en-US" sz="3300" dirty="0"/>
            </a:br>
            <a:r>
              <a:rPr lang="en-US" sz="3300" dirty="0"/>
              <a:t>API Success Rate: 97.3%</a:t>
            </a:r>
            <a:br>
              <a:rPr lang="en-US" sz="3300" dirty="0"/>
            </a:br>
            <a:r>
              <a:rPr lang="en-US" sz="3300" dirty="0"/>
              <a:t>Search Accuracy: 91.2%</a:t>
            </a:r>
            <a:br>
              <a:rPr lang="en-US" sz="3300" dirty="0"/>
            </a:br>
            <a:r>
              <a:rPr lang="en-US" sz="3300" dirty="0"/>
              <a:t>User Satisfaction: 4.3/5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0" y="5459015"/>
            <a:ext cx="100584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8A"/>
                </a:solidFill>
              </a:defRPr>
            </a:pPr>
            <a:r>
              <a:rPr sz="5000" dirty="0"/>
              <a:t>CASE STUDIES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0" y="6159966"/>
            <a:ext cx="100584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rPr sz="3300" dirty="0"/>
              <a:t>Law Student Research:</a:t>
            </a:r>
            <a:br>
              <a:rPr sz="3300" dirty="0"/>
            </a:br>
            <a:r>
              <a:rPr sz="3300" dirty="0"/>
              <a:t>2-3 hours → 5 minutes with citations</a:t>
            </a:r>
            <a:br>
              <a:rPr sz="3300" dirty="0"/>
            </a:br>
            <a:r>
              <a:rPr sz="3300" dirty="0"/>
              <a:t>Legal Professional:</a:t>
            </a:r>
            <a:br>
              <a:rPr sz="3300" dirty="0"/>
            </a:br>
            <a:r>
              <a:rPr sz="3300" dirty="0"/>
              <a:t>Auto-triggered search for recent amendments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0" y="8229600"/>
            <a:ext cx="100584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8A"/>
                </a:solidFill>
              </a:defRPr>
            </a:pPr>
            <a:r>
              <a:rPr sz="5000" dirty="0"/>
              <a:t>API ENDPOINTS</a:t>
            </a:r>
          </a:p>
        </p:txBody>
      </p:sp>
      <p:pic>
        <p:nvPicPr>
          <p:cNvPr id="22" name="Picture 21" descr="Fig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00" y="8961120"/>
            <a:ext cx="10058400" cy="3657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1945600" y="12618720"/>
            <a:ext cx="100584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3A8A"/>
                </a:solidFill>
              </a:defRPr>
            </a:pPr>
            <a:r>
              <a:rPr sz="5000" dirty="0"/>
              <a:t>LIMITATIONS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60840" y="13318599"/>
            <a:ext cx="100584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rPr lang="en-US" sz="3300" dirty="0"/>
              <a:t>• Dependent on external APIs</a:t>
            </a:r>
            <a:br>
              <a:rPr lang="en-US" sz="3300" dirty="0"/>
            </a:br>
            <a:r>
              <a:rPr lang="en-US" sz="3300" dirty="0"/>
              <a:t>• Focused on Indian legal system</a:t>
            </a:r>
            <a:br>
              <a:rPr lang="en-US" sz="3300" dirty="0"/>
            </a:br>
            <a:r>
              <a:rPr lang="en-US" sz="3300" dirty="0"/>
              <a:t>• Requires internet connectivity</a:t>
            </a:r>
            <a:br>
              <a:rPr lang="en-US" sz="3300" dirty="0"/>
            </a:br>
            <a:r>
              <a:rPr lang="en-US" sz="3300" dirty="0"/>
              <a:t>• AI responses need human verification</a:t>
            </a:r>
            <a:endParaRPr sz="3300" dirty="0"/>
          </a:p>
        </p:txBody>
      </p:sp>
      <p:sp>
        <p:nvSpPr>
          <p:cNvPr id="25" name="TextBox 24"/>
          <p:cNvSpPr txBox="1"/>
          <p:nvPr/>
        </p:nvSpPr>
        <p:spPr>
          <a:xfrm>
            <a:off x="21945600" y="15508219"/>
            <a:ext cx="100584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3A8A"/>
                </a:solidFill>
              </a:defRPr>
            </a:pPr>
            <a:r>
              <a:rPr sz="5000" dirty="0"/>
              <a:t>FUTURE 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0" y="16119753"/>
            <a:ext cx="100584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3300" dirty="0"/>
              <a:t>• Database integration</a:t>
            </a:r>
            <a:br>
              <a:rPr sz="3300" dirty="0"/>
            </a:br>
            <a:r>
              <a:rPr sz="3300" dirty="0"/>
              <a:t>• Multi-language support</a:t>
            </a:r>
            <a:br>
              <a:rPr sz="3300" dirty="0"/>
            </a:br>
            <a:r>
              <a:rPr sz="3300" dirty="0"/>
              <a:t>• Mobile application</a:t>
            </a:r>
            <a:br>
              <a:rPr sz="3300" dirty="0"/>
            </a:br>
            <a:r>
              <a:rPr sz="3300" dirty="0"/>
              <a:t>• Legal database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899880" y="18265794"/>
            <a:ext cx="100584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8A"/>
                </a:solidFill>
              </a:defRPr>
            </a:pPr>
            <a:r>
              <a:rPr sz="5000" dirty="0"/>
              <a:t>ETHICS &amp; PRIVACY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60840" y="19104709"/>
            <a:ext cx="100584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3300" dirty="0"/>
              <a:t>Clear disclaimers for legal advice limitations.</a:t>
            </a:r>
            <a:br>
              <a:rPr sz="3300" dirty="0"/>
            </a:br>
            <a:r>
              <a:rPr sz="3300" dirty="0"/>
              <a:t>Privacy-respecting data handling.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2468880"/>
            <a:ext cx="31089600" cy="45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972800" y="2743200"/>
            <a:ext cx="45720" cy="17830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1488400" y="2743200"/>
            <a:ext cx="45720" cy="17830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17D963-35CA-F682-081C-4A8FD70C22A9}"/>
              </a:ext>
            </a:extLst>
          </p:cNvPr>
          <p:cNvSpPr txBox="1"/>
          <p:nvPr/>
        </p:nvSpPr>
        <p:spPr>
          <a:xfrm>
            <a:off x="26639520" y="183414"/>
            <a:ext cx="53797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rPr lang="en-US" sz="3500" dirty="0"/>
              <a:t>Rishav Singh – 1032233012</a:t>
            </a:r>
          </a:p>
          <a:p>
            <a:pPr algn="l">
              <a:defRPr sz="1400" b="0">
                <a:solidFill>
                  <a:srgbClr val="333333"/>
                </a:solidFill>
              </a:defRPr>
            </a:pPr>
            <a:r>
              <a:rPr lang="en-US" sz="3500" dirty="0"/>
              <a:t>Kunal Tailor – 1032233258</a:t>
            </a:r>
          </a:p>
          <a:p>
            <a:pPr algn="l">
              <a:defRPr sz="1400" b="0">
                <a:solidFill>
                  <a:srgbClr val="333333"/>
                </a:solidFill>
              </a:defRPr>
            </a:pPr>
            <a:r>
              <a:rPr lang="en-US" sz="3500" dirty="0"/>
              <a:t>Yash </a:t>
            </a:r>
            <a:r>
              <a:rPr lang="en-US" sz="3500" dirty="0" err="1"/>
              <a:t>Pathrikar</a:t>
            </a:r>
            <a:r>
              <a:rPr lang="en-US" sz="3500" dirty="0"/>
              <a:t> - 1032233341</a:t>
            </a:r>
          </a:p>
          <a:p>
            <a:pPr algn="l">
              <a:defRPr sz="1400" b="0">
                <a:solidFill>
                  <a:srgbClr val="333333"/>
                </a:solidFill>
              </a:defRPr>
            </a:pPr>
            <a:r>
              <a:rPr lang="en-US" sz="3500" dirty="0"/>
              <a:t>Anuj Kudu – 1032233203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9180475-446F-33D6-C8D7-E4A503C0B3CC}"/>
              </a:ext>
            </a:extLst>
          </p:cNvPr>
          <p:cNvSpPr txBox="1"/>
          <p:nvPr/>
        </p:nvSpPr>
        <p:spPr>
          <a:xfrm>
            <a:off x="10972800" y="1729294"/>
            <a:ext cx="96164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</a:defRPr>
            </a:pPr>
            <a:r>
              <a:rPr lang="en-US" sz="4400" dirty="0"/>
              <a:t>Guide : Pranali Dahiwal</a:t>
            </a:r>
            <a:endParaRPr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385</Words>
  <Application>Microsoft Office PowerPoint</Application>
  <PresentationFormat>Custom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Rishav Singh</cp:lastModifiedBy>
  <cp:revision>3</cp:revision>
  <dcterms:created xsi:type="dcterms:W3CDTF">2013-01-27T09:14:16Z</dcterms:created>
  <dcterms:modified xsi:type="dcterms:W3CDTF">2025-11-03T06:34:47Z</dcterms:modified>
  <cp:category/>
</cp:coreProperties>
</file>